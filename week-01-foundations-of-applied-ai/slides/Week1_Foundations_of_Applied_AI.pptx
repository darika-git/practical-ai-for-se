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Week 1. This is a workshop-style week: we mix concepts with live coding. By the end you will have made your own first call to an LLM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1 is conceptual. We build the mental model that everything else in the course hangs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the roles are just labels in a list. The whole list is sent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to a partner and answer these before we move to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2 is the workshop. Students should have laptops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room. Make sure everyone activates the venv — the most common setup error is installing into the wrong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moment. Have everyone run it and read out their (slightly different) answers to feel temperature in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back to Session 2 dials: usage shows tokens; the reply varied because temperature=0.7.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Circulate. The pirate prompt reliably gets a laugh and cements the power of the system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exercise quietly demonstrates statelessness: memory works only because we resend history each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three dials one more time — they recur all term. Point them at the DataCamp module for extra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640080"/>
            <a:ext cx="201168" cy="201168"/>
          </a:xfrm>
          <a:prstGeom prst="ellipse">
            <a:avLst/>
          </a:prstGeom>
          <a:solidFill>
            <a:srgbClr val="18A2B8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1051560"/>
            <a:ext cx="118872" cy="118872"/>
          </a:xfrm>
          <a:prstGeom prst="ellipse">
            <a:avLst/>
          </a:prstGeom>
          <a:solidFill>
            <a:srgbClr val="2EE6A6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1188720"/>
            <a:ext cx="82296" cy="82296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WORKSHOP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Foundations of Applied AI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AI engineer’s role and the LLM application stack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tokens, temperature, and your first API call.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15263E"/>
          </a:solidFill>
          <a:ln/>
        </p:spPr>
      </p:sp>
      <p:sp>
        <p:nvSpPr>
          <p:cNvPr id="9" name="Shape 7"/>
          <p:cNvSpPr/>
          <p:nvPr/>
        </p:nvSpPr>
        <p:spPr>
          <a:xfrm>
            <a:off x="6126480" y="489204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15263E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98348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8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
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6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engineer &amp; the LLM stack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55080" y="49834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
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6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fundamentals &amp; first API call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6172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CamTech · Department of Software Engineering · Year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we’ll cover this week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47672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E3F5F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476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8A2B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37360" y="191109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engineer role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737360" y="231343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“AI engineer (developer)” actually does day to day.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47672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E3F5F8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476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8A2B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52360" y="191109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application stack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452360" y="231343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layers between a user and a model — and where your code lives.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593592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E3F5F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935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8A2B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737360" y="355701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inside software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737360" y="395935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generative model plugs into a normal request/response app.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33756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593592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FEF3D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5935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B44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452360" y="355701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context &amp; temperature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452360" y="395935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dials that shape cost, memory, and behaviour.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239512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FEF3D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23951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B44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737360" y="520293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API keys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737360" y="560527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Python, secrets, and the OpenAI SDK safely.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498348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92240" y="5239512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FEF3DA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523951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B44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452360" y="520293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API call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452360" y="560527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run, and read a real LLM completion. Then two exercises.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Software Engineering  ·  Week 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148840"/>
            <a:ext cx="256032" cy="256032"/>
          </a:xfrm>
          <a:prstGeom prst="ellipse">
            <a:avLst/>
          </a:prstGeom>
          <a:solidFill>
            <a:srgbClr val="18A2B8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20574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8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5880" y="25603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AI Engineer &amp; the LLM Stack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37947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 before we touch code: your role, the moving parts, and how generative AI lives inside ordinary software.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Week 1 you can…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28016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29968"/>
            <a:ext cx="182880" cy="182880"/>
          </a:xfrm>
          <a:prstGeom prst="ellipse">
            <a:avLst/>
          </a:prstGeom>
          <a:solidFill>
            <a:srgbClr val="2EE6A6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98424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07008" y="193852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role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07008" y="2313432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an AI engineer does and how it differs from an ML researcher.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94960" cy="128016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029968"/>
            <a:ext cx="182880" cy="182880"/>
          </a:xfrm>
          <a:prstGeom prst="ellipse">
            <a:avLst/>
          </a:prstGeom>
          <a:solidFill>
            <a:srgbClr val="2EE6A6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8424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22008" y="193852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stack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22008" y="2313432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layers of an LLM application and where your code sits.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394960" cy="128016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538728"/>
            <a:ext cx="182880" cy="182880"/>
          </a:xfrm>
          <a:prstGeom prst="ellipse">
            <a:avLst/>
          </a:prstGeom>
          <a:solidFill>
            <a:srgbClr val="2EE6A6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49300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07008" y="344728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dials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07008" y="3822192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tokens, context window, and temperature in your own words.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246120"/>
            <a:ext cx="5394960" cy="128016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538728"/>
            <a:ext cx="182880" cy="182880"/>
          </a:xfrm>
          <a:prstGeom prst="ellipse">
            <a:avLst/>
          </a:prstGeom>
          <a:solidFill>
            <a:srgbClr val="2EE6A6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349300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22008" y="344728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tools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22008" y="3822192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Python environment and store an API key securely.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5394960" cy="128016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047488"/>
            <a:ext cx="182880" cy="182880"/>
          </a:xfrm>
          <a:prstGeom prst="ellipse">
            <a:avLst/>
          </a:prstGeom>
          <a:solidFill>
            <a:srgbClr val="2EE6A6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500176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07008" y="495604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call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07008" y="5330952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prompt to an LLM API and read the response in code.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4754880"/>
            <a:ext cx="5394960" cy="128016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37960" y="5047488"/>
            <a:ext cx="182880" cy="182880"/>
          </a:xfrm>
          <a:prstGeom prst="ellipse">
            <a:avLst/>
          </a:prstGeom>
          <a:solidFill>
            <a:srgbClr val="2EE6A6"/>
          </a:solidFill>
          <a:ln/>
        </p:spPr>
      </p:sp>
      <p:sp>
        <p:nvSpPr>
          <p:cNvPr id="31" name="Text 29"/>
          <p:cNvSpPr/>
          <p:nvPr/>
        </p:nvSpPr>
        <p:spPr>
          <a:xfrm>
            <a:off x="6510528" y="500176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22008" y="495604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basics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22008" y="5330952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common errors: bad keys, rate limits, oversized context.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Software Engineering  ·  Week 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do we mean by “Applied AI”?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building models from scratch. We are software engineers who use AI as a component — calling models through APIs and libraries to add capability to real products.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49240" cy="3566160"/>
          </a:xfrm>
          <a:prstGeom prst="roundRect">
            <a:avLst>
              <a:gd name="adj" fmla="val 1795"/>
            </a:avLst>
          </a:prstGeom>
          <a:solidFill>
            <a:srgbClr val="FDF3F3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743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ML / Research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label datasets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tune models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accuracy &amp; loss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or ship a model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 &amp; statistics heavy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2514600"/>
            <a:ext cx="5349240" cy="3566160"/>
          </a:xfrm>
          <a:prstGeom prst="roundRect">
            <a:avLst>
              <a:gd name="adj" fmla="val 1795"/>
            </a:avLst>
          </a:prstGeom>
          <a:solidFill>
            <a:srgbClr val="F0FBF7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743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8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(this course)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324612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pre-trained models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via APIs &amp; SDKs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prompts &amp; data flow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features to users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heavy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Software Engineering  ·  Week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AI Engineer (Developer)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entry-level professional who builds and ships AI-powered features by integrating models into software — using APIs, open-source libraries, prompt design, and solid engineering practice.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349240" cy="3611880"/>
          </a:xfrm>
          <a:prstGeom prst="roundRect">
            <a:avLst>
              <a:gd name="adj" fmla="val 1772"/>
            </a:avLst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9748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E6F7F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8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337560"/>
            <a:ext cx="4754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apps via APIs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test prompts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models in your own data (RAG)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errors, cost, latency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modular, tested, documented code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2468880"/>
            <a:ext cx="5349240" cy="3611880"/>
          </a:xfrm>
          <a:prstGeom prst="roundRect">
            <a:avLst>
              <a:gd name="adj" fmla="val 1772"/>
            </a:avLst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69748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FBECEC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(yet)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3337560"/>
            <a:ext cx="4754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large models from scratch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new ML theory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GPU training clusters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Hand-derive the maths of transformers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PhD to start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Software Engineering  ·  Week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modern LLM application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feature is a stack of layers. Your code mostly lives in the middle — orchestrating models and data on behalf of the app.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7315200" cy="749808"/>
          </a:xfrm>
          <a:prstGeom prst="roundRect">
            <a:avLst>
              <a:gd name="adj" fmla="val 7317"/>
            </a:avLst>
          </a:prstGeom>
          <a:solidFill>
            <a:srgbClr val="EAF3FB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028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6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383280" y="2240280"/>
            <a:ext cx="4297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window, app screen, or API endpoint the user touches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7315200" cy="749808"/>
          </a:xfrm>
          <a:prstGeom prst="roundRect">
            <a:avLst>
              <a:gd name="adj" fmla="val 7317"/>
            </a:avLst>
          </a:prstGeom>
          <a:solidFill>
            <a:srgbClr val="E6F7F1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0896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8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383280" y="3108960"/>
            <a:ext cx="4297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backend: routing, auth, business rules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7315200" cy="749808"/>
          </a:xfrm>
          <a:prstGeom prst="roundRect">
            <a:avLst>
              <a:gd name="adj" fmla="val 7317"/>
            </a:avLst>
          </a:prstGeom>
          <a:solidFill>
            <a:srgbClr val="FDF1DE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7764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5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383280" y="3977640"/>
            <a:ext cx="4297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chains, agents, tools (e.g. LangChain, MCP)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7315200" cy="749808"/>
          </a:xfrm>
          <a:prstGeom prst="roundRect">
            <a:avLst>
              <a:gd name="adj" fmla="val 7317"/>
            </a:avLst>
          </a:prstGeom>
          <a:solidFill>
            <a:srgbClr val="F3ECFA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84632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Retrieval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383280" y="4846320"/>
            <a:ext cx="4297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vector database for RAG (e.g. Pinecone)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715000"/>
            <a:ext cx="7315200" cy="749808"/>
          </a:xfrm>
          <a:prstGeom prst="roundRect">
            <a:avLst>
              <a:gd name="adj" fmla="val 7317"/>
            </a:avLst>
          </a:prstGeom>
          <a:solidFill>
            <a:srgbClr val="E9EDF2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71500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API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383280" y="5715000"/>
            <a:ext cx="4297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itself — OpenAI API or an open model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0" y="2240280"/>
            <a:ext cx="3383280" cy="3840480"/>
          </a:xfrm>
          <a:prstGeom prst="roundRect">
            <a:avLst>
              <a:gd name="adj" fmla="val 1892"/>
            </a:avLst>
          </a:prstGeom>
          <a:solidFill>
            <a:srgbClr val="F0FBF7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58200" y="2468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8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work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58200" y="2880360"/>
            <a:ext cx="2971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focuses on the middle three layers — 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orchestration, data/retrieval, and calling the model.</a:t>
            </a:r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and backend are ordinary software you already know how to build.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Software Engineering  ·  Week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/ RESPONSE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GenAI fits into a software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app’s point of view, an LLM is just another API you call over the network — send a prompt, get text back.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27432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AF3FB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4436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6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3364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 question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50592" y="3200400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61488" y="27432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6F7F1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61488" y="294436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8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52928" y="3364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prompt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context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09160" y="3200400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0056" y="27432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DF1DE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0056" y="294436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11496" y="3364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generates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967728" y="3200400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78624" y="27432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6F7F1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78624" y="294436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8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70064" y="3364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&amp; validates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226296" y="3200400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537192" y="27432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AF3FB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37192" y="294436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6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28632" y="3364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answer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709160"/>
            <a:ext cx="11109960" cy="1325880"/>
          </a:xfrm>
          <a:prstGeom prst="roundRect">
            <a:avLst>
              <a:gd name="adj" fmla="val 4828"/>
            </a:avLst>
          </a:prstGeom>
          <a:solidFill>
            <a:srgbClr val="FDF1DE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4864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Key idea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5230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stateless — it does not remember previous calls. Any “memory” (chat history, retrieved documents, user data) is something YOUR code sends in with every request.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Software Engineering  ·  Week 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Anatomy of an LLM call: messages &amp; roles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480560"/>
          </a:xfrm>
          <a:prstGeom prst="roundRect">
            <a:avLst>
              <a:gd name="adj" fmla="val 1224"/>
            </a:avLst>
          </a:prstGeom>
          <a:solidFill>
            <a:srgbClr val="0B1526"/>
          </a:solidFill>
          <a:ln w="12700">
            <a:solidFill>
              <a:srgbClr val="2234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73736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173736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75688"/>
            <a:ext cx="104241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 LLM chat call is a list of messages, each with a role.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"system"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 helpful tutor."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"Explain recursion simply."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"assistant"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"Recursion is when..."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"Give me an example."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system    -&gt; sets behaviour &amp; rules   (you write this)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user      -&gt; the human’s input        (from your app)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assistant -&gt; the model’s past replies  (kept for context)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606247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 the system message; you resend the running conversation each call. That is how a “chat” is built on a stateless model.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2344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Quick recap — Session 1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5263E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33172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A2B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0" y="233172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sentence: what does an AI engineer do?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329184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5263E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2918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A2B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11680" y="329184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three layers of the LLM application stack.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22960" y="425196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5263E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25196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A2B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425196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say an LLM is “stateless”?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22960" y="521208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5263E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21208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A2B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11680" y="52120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chat “memory” actually come from?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148840"/>
            <a:ext cx="256032" cy="256032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20574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5880" y="25603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LLM Fundamentals &amp; Your First API Call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37947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we get hands-on: the three dials that govern every model, then setup, secrets, and running real code.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Tokens: the unit models actually read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don’t see words or letters — they see tokens: chunks of text, roughly ¾ of a word on average. Cost and limits are all measured in tokens.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0B1526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7432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“Applied AI is practical.”  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17720" y="2880360"/>
            <a:ext cx="1138428" cy="502920"/>
          </a:xfrm>
          <a:prstGeom prst="roundRect">
            <a:avLst>
              <a:gd name="adj" fmla="val 10909"/>
            </a:avLst>
          </a:prstGeom>
          <a:solidFill>
            <a:srgbClr val="243B57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880360"/>
            <a:ext cx="11384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65876" y="2880360"/>
            <a:ext cx="644652" cy="502920"/>
          </a:xfrm>
          <a:prstGeom prst="roundRect">
            <a:avLst>
              <a:gd name="adj" fmla="val 10909"/>
            </a:avLst>
          </a:prstGeom>
          <a:solidFill>
            <a:srgbClr val="1D4E57"/>
          </a:solidFill>
          <a:ln/>
        </p:spPr>
      </p:sp>
      <p:sp>
        <p:nvSpPr>
          <p:cNvPr id="10" name="Text 8"/>
          <p:cNvSpPr/>
          <p:nvPr/>
        </p:nvSpPr>
        <p:spPr>
          <a:xfrm>
            <a:off x="5865876" y="2880360"/>
            <a:ext cx="6446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20256" y="2880360"/>
            <a:ext cx="644652" cy="502920"/>
          </a:xfrm>
          <a:prstGeom prst="roundRect">
            <a:avLst>
              <a:gd name="adj" fmla="val 10909"/>
            </a:avLst>
          </a:prstGeom>
          <a:solidFill>
            <a:srgbClr val="243B57"/>
          </a:solidFill>
          <a:ln/>
        </p:spPr>
      </p:sp>
      <p:sp>
        <p:nvSpPr>
          <p:cNvPr id="12" name="Text 10"/>
          <p:cNvSpPr/>
          <p:nvPr/>
        </p:nvSpPr>
        <p:spPr>
          <a:xfrm>
            <a:off x="6620256" y="2880360"/>
            <a:ext cx="6446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74636" y="2880360"/>
            <a:ext cx="1014984" cy="502920"/>
          </a:xfrm>
          <a:prstGeom prst="roundRect">
            <a:avLst>
              <a:gd name="adj" fmla="val 10909"/>
            </a:avLst>
          </a:prstGeom>
          <a:solidFill>
            <a:srgbClr val="1D4E57"/>
          </a:solidFill>
          <a:ln/>
        </p:spPr>
      </p:sp>
      <p:sp>
        <p:nvSpPr>
          <p:cNvPr id="14" name="Text 12"/>
          <p:cNvSpPr/>
          <p:nvPr/>
        </p:nvSpPr>
        <p:spPr>
          <a:xfrm>
            <a:off x="7374636" y="2880360"/>
            <a:ext cx="1014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99348" y="2880360"/>
            <a:ext cx="768096" cy="502920"/>
          </a:xfrm>
          <a:prstGeom prst="roundRect">
            <a:avLst>
              <a:gd name="adj" fmla="val 10909"/>
            </a:avLst>
          </a:prstGeom>
          <a:solidFill>
            <a:srgbClr val="243B57"/>
          </a:solidFill>
          <a:ln/>
        </p:spPr>
      </p:sp>
      <p:sp>
        <p:nvSpPr>
          <p:cNvPr id="16" name="Text 14"/>
          <p:cNvSpPr/>
          <p:nvPr/>
        </p:nvSpPr>
        <p:spPr>
          <a:xfrm>
            <a:off x="8499348" y="2880360"/>
            <a:ext cx="768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377172" y="2880360"/>
            <a:ext cx="397764" cy="502920"/>
          </a:xfrm>
          <a:prstGeom prst="roundRect">
            <a:avLst>
              <a:gd name="adj" fmla="val 13793"/>
            </a:avLst>
          </a:prstGeom>
          <a:solidFill>
            <a:srgbClr val="1D4E57"/>
          </a:solidFill>
          <a:ln/>
        </p:spPr>
      </p:sp>
      <p:sp>
        <p:nvSpPr>
          <p:cNvPr id="18" name="Text 16"/>
          <p:cNvSpPr/>
          <p:nvPr/>
        </p:nvSpPr>
        <p:spPr>
          <a:xfrm>
            <a:off x="9377172" y="2880360"/>
            <a:ext cx="3977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21824" y="2880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6 tokens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474720" cy="1874520"/>
          </a:xfrm>
          <a:prstGeom prst="roundRect">
            <a:avLst>
              <a:gd name="adj" fmla="val 3415"/>
            </a:avLst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297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A2B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≈ ¾ word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77240" y="484632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token ≈ 4 characters of English on average.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251960" y="4069080"/>
            <a:ext cx="3474720" cy="1874520"/>
          </a:xfrm>
          <a:prstGeom prst="roundRect">
            <a:avLst>
              <a:gd name="adj" fmla="val 3415"/>
            </a:avLst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80560" y="4297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A2B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 pay per token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480560" y="484632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what you send (input) and what you get (output) are billed.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955280" y="4069080"/>
            <a:ext cx="3474720" cy="1874520"/>
          </a:xfrm>
          <a:prstGeom prst="roundRect">
            <a:avLst>
              <a:gd name="adj" fmla="val 3415"/>
            </a:avLst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183880" y="4297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A2B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Limits are in tokens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183880" y="484632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 and max_tokens are all counted in tokens.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Software Engineering  ·  Week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Context window: the model’s working memory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for one call — system message, chat history, retrieved data, AND the reply — must fit inside a fixed token budget: the context window.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6949440" cy="3429000"/>
          </a:xfrm>
          <a:prstGeom prst="roundRect">
            <a:avLst>
              <a:gd name="adj" fmla="val 1867"/>
            </a:avLst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6974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context window (a fixed token budget)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3200400"/>
            <a:ext cx="1005840" cy="640080"/>
          </a:xfrm>
          <a:prstGeom prst="roundRect">
            <a:avLst>
              <a:gd name="adj" fmla="val 7143"/>
            </a:avLst>
          </a:prstGeom>
          <a:solidFill>
            <a:srgbClr val="E9EDF2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004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56232" y="3200400"/>
            <a:ext cx="2194560" cy="640080"/>
          </a:xfrm>
          <a:prstGeom prst="roundRect">
            <a:avLst>
              <a:gd name="adj" fmla="val 7143"/>
            </a:avLst>
          </a:prstGeom>
          <a:solidFill>
            <a:srgbClr val="EAF3FB"/>
          </a:solidFill>
          <a:ln w="12700">
            <a:solidFill>
              <a:srgbClr val="2C6E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56232" y="3200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6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23944" y="320040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F3ECFA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23944" y="3200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896" y="320040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FDF1DE"/>
          </a:solidFill>
          <a:ln w="12700">
            <a:solidFill>
              <a:srgbClr val="B58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25896" y="32004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for reply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069080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total exceeds the window, the request fails or older context must be dropped.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" y="475488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
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 chats eventually overflow — you must trim or summarise.
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Bigger windows cost more and can run slower.
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 exists partly to fit only the RELEVANT data in the window.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26680" y="2514600"/>
            <a:ext cx="3886200" cy="3429000"/>
          </a:xfrm>
          <a:prstGeom prst="roundRect">
            <a:avLst>
              <a:gd name="adj" fmla="val 1867"/>
            </a:avLst>
          </a:prstGeom>
          <a:solidFill>
            <a:srgbClr val="F0FBF7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5528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8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55280" y="324612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087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+ output</a:t>
            </a:r>
            <a:endParaRPr lang="en-US" sz="2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087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 context window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955280" y="452628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leave headroom for the model’s answer — the reply counts against the same budget.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Software Engineering  ·  Week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Temperature: the randomness dial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controls how “creative” vs. predictable the output is. Low = focused and repeatable; high = varied and surprising.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474720" cy="3520440"/>
          </a:xfrm>
          <a:prstGeom prst="roundRect">
            <a:avLst>
              <a:gd name="adj" fmla="val 1842"/>
            </a:avLst>
          </a:prstGeom>
          <a:solidFill>
            <a:srgbClr val="E6F7F1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6517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87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= 0.0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&amp; focused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code, extraction, classification, factual answers.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4480560"/>
            <a:ext cx="30632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572000"/>
            <a:ext cx="2788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capital of France is Paris.”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51960" y="2468880"/>
            <a:ext cx="3474720" cy="3520440"/>
          </a:xfrm>
          <a:prstGeom prst="roundRect">
            <a:avLst>
              <a:gd name="adj" fmla="val 1842"/>
            </a:avLst>
          </a:prstGeom>
          <a:solidFill>
            <a:srgbClr val="EAF3FB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26517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= 0.7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3063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0560" y="34747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general chat, explanations, everyday assistants.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80560" y="4480560"/>
            <a:ext cx="30632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4572000"/>
            <a:ext cx="2788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“Paris — the lovely capital of France.”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55280" y="2468880"/>
            <a:ext cx="3474720" cy="3520440"/>
          </a:xfrm>
          <a:prstGeom prst="roundRect">
            <a:avLst>
              <a:gd name="adj" fmla="val 1842"/>
            </a:avLst>
          </a:prstGeom>
          <a:solidFill>
            <a:srgbClr val="FDF1DE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83880" y="26517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8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= 1.2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83880" y="3063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&amp; varied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83880" y="34747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brainstorming, story ideas, marketing copy.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83880" y="4480560"/>
            <a:ext cx="30632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4572000"/>
            <a:ext cx="2788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“Ah, Paris! City of light and croissants…”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for anything you need to be reliable or testable, keep temperature low.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Software Engineering  ·  Week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FAMILIES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Choosing a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“best” model — you trade off capability, speed, cost, and privacy. Start small and cheap; scale up only if you need to.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103120" cy="548640"/>
          </a:xfrm>
          <a:prstGeom prst="rect">
            <a:avLst/>
          </a:prstGeom>
          <a:solidFill>
            <a:srgbClr val="0E1A2B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651760" y="2286000"/>
            <a:ext cx="3200400" cy="548640"/>
          </a:xfrm>
          <a:prstGeom prst="rect">
            <a:avLst/>
          </a:prstGeom>
          <a:solidFill>
            <a:srgbClr val="0E1A2B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2286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2286000"/>
            <a:ext cx="2926080" cy="548640"/>
          </a:xfrm>
          <a:prstGeom prst="rect">
            <a:avLst/>
          </a:prstGeom>
          <a:solidFill>
            <a:srgbClr val="0E1A2B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2286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778240" y="2286000"/>
            <a:ext cx="2834640" cy="548640"/>
          </a:xfrm>
          <a:prstGeom prst="rect">
            <a:avLst/>
          </a:prstGeom>
          <a:solidFill>
            <a:srgbClr val="0E1A2B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15400" y="2286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2103120" cy="868680"/>
          </a:xfrm>
          <a:prstGeom prst="rect">
            <a:avLst/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346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frontier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51760" y="2834640"/>
            <a:ext cx="3200400" cy="868680"/>
          </a:xfrm>
          <a:prstGeom prst="rect">
            <a:avLst/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283464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GPT-class via OpenAI API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52160" y="2834640"/>
            <a:ext cx="2926080" cy="868680"/>
          </a:xfrm>
          <a:prstGeom prst="rect">
            <a:avLst/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8346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quality, easiest to start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778240" y="2834640"/>
            <a:ext cx="2834640" cy="868680"/>
          </a:xfrm>
          <a:prstGeom prst="rect">
            <a:avLst/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28346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token; data leaves your servers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7033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small/fast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651760" y="3703320"/>
            <a:ext cx="3200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8920" y="37033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“mini” tier models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52160" y="3703320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370332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low-latency, high volume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78240" y="3703320"/>
            <a:ext cx="2834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15400" y="370332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capable on hard tasks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2103120" cy="868680"/>
          </a:xfrm>
          <a:prstGeom prst="rect">
            <a:avLst/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5720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651760" y="4572000"/>
            <a:ext cx="3200400" cy="868680"/>
          </a:xfrm>
          <a:prstGeom prst="rect">
            <a:avLst/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88920" y="45720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Llama, Mistral (Hugging Face)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52160" y="4572000"/>
            <a:ext cx="2926080" cy="868680"/>
          </a:xfrm>
          <a:prstGeom prst="rect">
            <a:avLst/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457200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control, run locally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778240" y="4572000"/>
            <a:ext cx="2834640" cy="868680"/>
          </a:xfrm>
          <a:prstGeom prst="rect">
            <a:avLst/>
          </a:prstGeom>
          <a:solidFill>
            <a:srgbClr val="F2F6FA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15400" y="457200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hosting &amp; hardware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562356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0FBF7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22960" y="57607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08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advice: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a small hosted model (e.g. a “mini” tier) for development — it’s fast and cheap — then upgrade only where quality demands it.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Software Engineering  ·  Week 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Set up your environment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480560"/>
          </a:xfrm>
          <a:prstGeom prst="roundRect">
            <a:avLst>
              <a:gd name="adj" fmla="val 1224"/>
            </a:avLst>
          </a:prstGeom>
          <a:solidFill>
            <a:srgbClr val="0B1526"/>
          </a:solidFill>
          <a:ln w="12700">
            <a:solidFill>
              <a:srgbClr val="2234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73736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173736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75688"/>
            <a:ext cx="104241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Create an isolated Python environment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venv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venv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venv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Windows: venv\Scripts\activate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Install the libraries we need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dotenv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Create a .env file for your secret key (never commit it!)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file: .env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OPENAI_API_KEY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4) Tell git to ignore it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".env"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gitignore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606247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environment keeps this project’s packages separate from the rest of your system.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API keys: treat them like passwords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key authenticates your requests and bills your account. A leaked key can cost real money — guard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49240" cy="3566160"/>
          </a:xfrm>
          <a:prstGeom prst="roundRect">
            <a:avLst>
              <a:gd name="adj" fmla="val 1795"/>
            </a:avLst>
          </a:prstGeom>
          <a:solidFill>
            <a:srgbClr val="F0FBF7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06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8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keys in a .env file or secrets manager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them from environment variables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.env to .gitignore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a key immediately if exposed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2377440"/>
            <a:ext cx="5349240" cy="3566160"/>
          </a:xfrm>
          <a:prstGeom prst="roundRect">
            <a:avLst>
              <a:gd name="adj" fmla="val 1795"/>
            </a:avLst>
          </a:prstGeom>
          <a:solidFill>
            <a:srgbClr val="FBECEC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606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Don’t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315468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 keys in your source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or push keys to GitHub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keys into chats or screenshots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one key across everything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Software Engineering  ·  Week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Your first API call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892040"/>
          </a:xfrm>
          <a:prstGeom prst="roundRect">
            <a:avLst>
              <a:gd name="adj" fmla="val 1121"/>
            </a:avLst>
          </a:prstGeom>
          <a:solidFill>
            <a:srgbClr val="0B1526"/>
          </a:solidFill>
          <a:ln w="12700">
            <a:solidFill>
              <a:srgbClr val="2234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73736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173736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75688"/>
            <a:ext cx="10424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dotenv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load_dotenv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load_dotenv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 .env into environment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"OPENAI_API_KEY"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completions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"gpt-4o-mini"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"system"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 helpful tutor."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"Explain an API in one sentence."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8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choices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Reading the response object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480560"/>
          </a:xfrm>
          <a:prstGeom prst="roundRect">
            <a:avLst>
              <a:gd name="adj" fmla="val 1224"/>
            </a:avLst>
          </a:prstGeom>
          <a:solidFill>
            <a:srgbClr val="0B1526"/>
          </a:solidFill>
          <a:ln w="12700">
            <a:solidFill>
              <a:srgbClr val="2234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73736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173736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75688"/>
            <a:ext cx="104241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response is a structured object, not just a string.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text reply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which model answered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token accounting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8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8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"prompt tokens:    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prompt_tokens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8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"completion tokens:"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completion_tokens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8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 tokens:     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total_tokens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choices is a list because you can ask for several replies (n &gt; 1).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usage is how you track cost — remember: you pay per token.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606247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inspect usage while developing — it’s how you keep an eye on cost and stay under context limits.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EXERCISE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Feel the dials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5263E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350008"/>
            <a:ext cx="420624" cy="420624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50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214884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script three times at temperature=0.0. What do you notice about the replies?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5263E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3310128"/>
            <a:ext cx="420624" cy="420624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3101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37360" y="31089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set temperature=1.3 and run three more times. How do the replies change?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406908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5263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560" y="4270248"/>
            <a:ext cx="420624" cy="420624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2702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406908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system message to “Answer like a pirate.” Re-run and observe.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22960" y="502920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5263E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1560" y="5230368"/>
            <a:ext cx="420624" cy="420624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52303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7360" y="502920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usage.total_tokens. Make the prompt longer — does the number grow?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minutes  ·  work in pairs  ·  compare results with a neighbour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EXERCISE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 a tiny CLI assistant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your API call in a loop so you can chat with it from the terminal.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487168"/>
            <a:ext cx="6766560" cy="3611880"/>
          </a:xfrm>
          <a:prstGeom prst="roundRect">
            <a:avLst>
              <a:gd name="adj" fmla="val 1519"/>
            </a:avLst>
          </a:prstGeom>
          <a:solidFill>
            <a:srgbClr val="0B1526"/>
          </a:solidFill>
          <a:ln w="12700">
            <a:solidFill>
              <a:srgbClr val="2234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67919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307592" y="267919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517904" y="267919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999232"/>
            <a:ext cx="64008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"system"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concise."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8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&gt; "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"quit"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completions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"gpt-4o-mini"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choices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8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"ai  &gt;"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"assistant"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B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63840" y="25146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15263E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38160" y="3200400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the conversation (we append to history) so it remembers.
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Print total tokens after each reply.
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a “reset” command that clears history.
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 empty input gracefully.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minutes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When it breaks: common first-day errors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4937760" cy="502920"/>
          </a:xfrm>
          <a:prstGeom prst="roundRect">
            <a:avLst>
              <a:gd name="adj" fmla="val 9091"/>
            </a:avLst>
          </a:prstGeom>
          <a:solidFill>
            <a:srgbClr val="FBECE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AuthenticationError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missing, wrong, or not loaded.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08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.env is loaded and the variable name matches exactly.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65960"/>
            <a:ext cx="4937760" cy="502920"/>
          </a:xfrm>
          <a:prstGeom prst="roundRect">
            <a:avLst>
              <a:gd name="adj" fmla="val 9091"/>
            </a:avLst>
          </a:prstGeom>
          <a:solidFill>
            <a:srgbClr val="FBECEC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9659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RateLimitError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37960" y="2560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requests, or quota/credits exhausted.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3063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08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down, add retries, or check your account billing.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160520"/>
            <a:ext cx="4937760" cy="502920"/>
          </a:xfrm>
          <a:prstGeom prst="roundRect">
            <a:avLst>
              <a:gd name="adj" fmla="val 9091"/>
            </a:avLst>
          </a:prstGeom>
          <a:solidFill>
            <a:srgbClr val="FBECE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605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length exceeded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47548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history + reply &gt; context window.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2578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08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or summarise history; send only what’s relevant.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BBC7D2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160520"/>
            <a:ext cx="4937760" cy="502920"/>
          </a:xfrm>
          <a:prstGeom prst="roundRect">
            <a:avLst>
              <a:gd name="adj" fmla="val 9091"/>
            </a:avLst>
          </a:prstGeom>
          <a:solidFill>
            <a:srgbClr val="FBECEC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1605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not found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537960" y="47548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into the wrong environment.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52578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08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your venv, then re-run pip install.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Software Engineering  ·  Week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85800"/>
            <a:ext cx="182880" cy="18288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051560"/>
            <a:ext cx="109728" cy="109728"/>
          </a:xfrm>
          <a:prstGeom prst="ellipse">
            <a:avLst/>
          </a:prstGeom>
          <a:solidFill>
            <a:srgbClr val="2EE6A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You’ve laid the foundation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15263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3134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97280" y="26517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integrate models into software — engineering, not research.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14884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15263E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3134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6517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→ app → orchestration → data → model. You live in the middle.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38328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15263E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5478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97280" y="388620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(cost), context window (memory), temperature (randomness).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38328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15263E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35478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46520" y="388620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key → build messages → create() → read choices[0].message.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8006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15303A"/>
          </a:solidFill>
          <a:ln w="12700">
            <a:solidFill>
              <a:srgbClr val="2EE6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9560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week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5303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CLI assistant · complete DataCamp “Working with the OpenAI API” · come with one idea for a feature you’d like to build.  Next up → Week 2: Working with the OpenAI API in depth.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Software Engineering · Week 1 · Foundations of Applied 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CamTech — Practical AI for Software Engineering</dc:creator>
  <cp:lastModifiedBy>CamTech — Practical AI for Software Engineering</cp:lastModifiedBy>
  <cp:revision>1</cp:revision>
  <dcterms:created xsi:type="dcterms:W3CDTF">2026-07-29T16:36:06Z</dcterms:created>
  <dcterms:modified xsi:type="dcterms:W3CDTF">2026-07-29T16:36:06Z</dcterms:modified>
</cp:coreProperties>
</file>